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72" r:id="rId6"/>
    <p:sldId id="261" r:id="rId7"/>
    <p:sldId id="277" r:id="rId8"/>
    <p:sldId id="276" r:id="rId9"/>
    <p:sldId id="260" r:id="rId10"/>
    <p:sldId id="273" r:id="rId11"/>
    <p:sldId id="274" r:id="rId12"/>
    <p:sldId id="278" r:id="rId13"/>
    <p:sldId id="280" r:id="rId14"/>
    <p:sldId id="262" r:id="rId15"/>
    <p:sldId id="263" r:id="rId16"/>
    <p:sldId id="264" r:id="rId17"/>
    <p:sldId id="265" r:id="rId18"/>
    <p:sldId id="275" r:id="rId19"/>
    <p:sldId id="266" r:id="rId20"/>
    <p:sldId id="267" r:id="rId21"/>
    <p:sldId id="268" r:id="rId22"/>
    <p:sldId id="269" r:id="rId23"/>
    <p:sldId id="271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13BCB7-741F-AE43-9899-D3C70CCC0B91}" v="188" dt="2026-01-12T19:45:54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32"/>
    <p:restoredTop sz="94630"/>
  </p:normalViewPr>
  <p:slideViewPr>
    <p:cSldViewPr snapToGrid="0">
      <p:cViewPr varScale="1">
        <p:scale>
          <a:sx n="120" d="100"/>
          <a:sy n="120" d="100"/>
        </p:scale>
        <p:origin x="208" y="2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edish@utsa.edu" TargetMode="External"/><Relationship Id="rId2" Type="http://schemas.openxmlformats.org/officeDocument/2006/relationships/hyperlink" Target="mailto:diane.lopez2@utsa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brew.sh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brew.sh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mailto:Cedish@utsa.edu" TargetMode="External"/><Relationship Id="rId2" Type="http://schemas.openxmlformats.org/officeDocument/2006/relationships/hyperlink" Target="mailto:diane.lopez@utsa.edu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C75F-315F-FFC8-542A-23CFA32E01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&amp; VSCode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D6DE2-3F66-04B7-A903-C43498A967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153956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7DDD-E711-5790-50D3-E873B912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B16E-C18D-0338-CF97-07AAF6EA4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Diane López, Information Specialist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diane.lopez2@utsa.edu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Community Engaged Digital Scholarship Hub</a:t>
            </a:r>
          </a:p>
          <a:p>
            <a:pPr lvl="1"/>
            <a:r>
              <a:rPr lang="en-US" dirty="0"/>
              <a:t>CEDISH email: </a:t>
            </a:r>
            <a:r>
              <a:rPr lang="en-US" dirty="0">
                <a:hlinkClick r:id="rId3"/>
              </a:rPr>
              <a:t>cedish@utsa.edu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892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2B9B6-E888-54D0-8F0B-7517F5F4F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23E48-2130-517C-9FA1-E5DD8E8F0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Welcome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Git concepts + short demo (~20 mins)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Lab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exercise a (~25 mins)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exercise b (~25 mins)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break 5 mins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Resolving conflicts ~15 mins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Q&amp;A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Closing </a:t>
            </a:r>
          </a:p>
        </p:txBody>
      </p:sp>
    </p:spTree>
    <p:extLst>
      <p:ext uri="{BB962C8B-B14F-4D97-AF65-F5344CB8AC3E}">
        <p14:creationId xmlns:p14="http://schemas.microsoft.com/office/powerpoint/2010/main" val="400824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1E887-8673-2CBB-60B6-39386FC9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BF35C-71BB-19F9-5799-F92E34C1A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install and configure Git and VS Code for version control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initialize a Git repository and make the first commit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Use VS Code's Source Control UI to stage, </a:t>
            </a:r>
            <a:r>
              <a:rPr lang="en-US" dirty="0" err="1"/>
              <a:t>unstage</a:t>
            </a:r>
            <a:r>
              <a:rPr lang="en-US" dirty="0"/>
              <a:t>, and commit changes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Back up and share a project by connecting to a remote repository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Retrieve updates and collaborate by cloning and pulling from a remote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and switch between branches, then merge changes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Inspect history and recover previous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982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840E3-1E4A-BD4D-03FF-4621B42E2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20818-152B-6797-D854-7953E92DC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</p:spTree>
    <p:extLst>
      <p:ext uri="{BB962C8B-B14F-4D97-AF65-F5344CB8AC3E}">
        <p14:creationId xmlns:p14="http://schemas.microsoft.com/office/powerpoint/2010/main" val="2300946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22F7C-8C7C-C2AB-4458-40275870A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065415"/>
          </a:xfrm>
        </p:spPr>
        <p:txBody>
          <a:bodyPr/>
          <a:lstStyle/>
          <a:p>
            <a:r>
              <a:rPr lang="en-US" dirty="0"/>
              <a:t>What’s is Git? &amp; core concepts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B9847-9234-4E30-7673-793DF1126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632204"/>
            <a:ext cx="10178322" cy="12295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Git is a tool to help users manage files and data by using ‘version control’. 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Version control let users to compare different versions and track changes, which is especially helpful when working in groups.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80698-A84B-F561-874E-6CEDCA8FC245}"/>
              </a:ext>
            </a:extLst>
          </p:cNvPr>
          <p:cNvSpPr txBox="1"/>
          <p:nvPr/>
        </p:nvSpPr>
        <p:spPr>
          <a:xfrm>
            <a:off x="1251678" y="3046137"/>
            <a:ext cx="74677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IMPORTANT TO KNOW!</a:t>
            </a:r>
          </a:p>
          <a:p>
            <a:r>
              <a:rPr lang="en-US" dirty="0"/>
              <a:t>Knowing these three file states will help with understanding Git:</a:t>
            </a:r>
          </a:p>
          <a:p>
            <a:pPr marL="457200" indent="-457200">
              <a:buAutoNum type="arabicPeriod"/>
            </a:pPr>
            <a:r>
              <a:rPr lang="en-US" b="1" dirty="0"/>
              <a:t>modified</a:t>
            </a:r>
            <a:r>
              <a:rPr lang="en-US" dirty="0"/>
              <a:t> » you changed the file, but it’s not staged.</a:t>
            </a:r>
          </a:p>
          <a:p>
            <a:pPr marL="457200" indent="-457200">
              <a:buAutoNum type="arabicPeriod"/>
            </a:pPr>
            <a:r>
              <a:rPr lang="en-US" b="1" dirty="0"/>
              <a:t>stage </a:t>
            </a:r>
            <a:r>
              <a:rPr lang="en-US" dirty="0"/>
              <a:t>» the modified file is marked for inclusion in the next commit.</a:t>
            </a:r>
          </a:p>
          <a:p>
            <a:pPr marL="457200" indent="-457200">
              <a:buAutoNum type="arabicPeriod"/>
            </a:pPr>
            <a:r>
              <a:rPr lang="en-US" b="1" dirty="0"/>
              <a:t>committed </a:t>
            </a:r>
            <a:r>
              <a:rPr lang="en-US" dirty="0"/>
              <a:t>» the file’s snapshot is stored safely in the Git database.</a:t>
            </a:r>
          </a:p>
        </p:txBody>
      </p:sp>
      <p:pic>
        <p:nvPicPr>
          <p:cNvPr id="1028" name="Picture 4" descr="Working tree, staging area, and Git directory">
            <a:extLst>
              <a:ext uri="{FF2B5EF4-FFF2-40B4-BE49-F238E27FC236}">
                <a16:creationId xmlns:a16="http://schemas.microsoft.com/office/drawing/2014/main" id="{25B53341-B990-C1AC-4AC8-10EBD9F87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7343" y="4523465"/>
            <a:ext cx="4114800" cy="2267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2E756D-66BB-CA9E-D298-89EB751B5C1E}"/>
              </a:ext>
            </a:extLst>
          </p:cNvPr>
          <p:cNvSpPr txBox="1"/>
          <p:nvPr/>
        </p:nvSpPr>
        <p:spPr>
          <a:xfrm>
            <a:off x="1251678" y="4800464"/>
            <a:ext cx="64662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three states occurred in the three main section of a Git project.</a:t>
            </a:r>
          </a:p>
          <a:p>
            <a:pPr marL="342900" indent="-342900">
              <a:buAutoNum type="arabicPeriod"/>
            </a:pPr>
            <a:r>
              <a:rPr lang="en-US" dirty="0"/>
              <a:t>working directory (local/remote folder)</a:t>
            </a:r>
          </a:p>
          <a:p>
            <a:pPr marL="342900" indent="-342900">
              <a:buAutoNum type="arabicPeriod"/>
            </a:pPr>
            <a:r>
              <a:rPr lang="en-US" dirty="0"/>
              <a:t>staging area</a:t>
            </a:r>
          </a:p>
          <a:p>
            <a:pPr marL="342900" indent="-342900">
              <a:buAutoNum type="arabicPeriod"/>
            </a:pPr>
            <a:r>
              <a:rPr lang="en-US" dirty="0"/>
              <a:t>.git directory (repository)</a:t>
            </a:r>
          </a:p>
        </p:txBody>
      </p:sp>
    </p:spTree>
    <p:extLst>
      <p:ext uri="{BB962C8B-B14F-4D97-AF65-F5344CB8AC3E}">
        <p14:creationId xmlns:p14="http://schemas.microsoft.com/office/powerpoint/2010/main" val="468116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reeform 6">
            <a:extLst>
              <a:ext uri="{FF2B5EF4-FFF2-40B4-BE49-F238E27FC236}">
                <a16:creationId xmlns:a16="http://schemas.microsoft.com/office/drawing/2014/main" id="{DD0AEE21-CF4B-4395-A100-EFB0EB995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9F8DBD9A-1B56-4D4B-856B-89CC682C6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59" name="Rectangle 2058">
            <a:extLst>
              <a:ext uri="{FF2B5EF4-FFF2-40B4-BE49-F238E27FC236}">
                <a16:creationId xmlns:a16="http://schemas.microsoft.com/office/drawing/2014/main" id="{EE079F42-5C7A-44DD-9E9F-A34795A48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9091" y="0"/>
            <a:ext cx="114729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1" name="Freeform 6">
            <a:extLst>
              <a:ext uri="{FF2B5EF4-FFF2-40B4-BE49-F238E27FC236}">
                <a16:creationId xmlns:a16="http://schemas.microsoft.com/office/drawing/2014/main" id="{09777E15-6D68-4808-AD20-82EA7377F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3285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63" name="Freeform 6">
            <a:extLst>
              <a:ext uri="{FF2B5EF4-FFF2-40B4-BE49-F238E27FC236}">
                <a16:creationId xmlns:a16="http://schemas.microsoft.com/office/drawing/2014/main" id="{CE79CAD8-9F7F-4756-BD12-8463CA4C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A9923A21-5790-4667-B5C7-ADA793B4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4448" y="643466"/>
            <a:ext cx="9600802" cy="557106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Working tree, staging area, and Git directory">
            <a:extLst>
              <a:ext uri="{FF2B5EF4-FFF2-40B4-BE49-F238E27FC236}">
                <a16:creationId xmlns:a16="http://schemas.microsoft.com/office/drawing/2014/main" id="{74057B49-5640-BB3C-9590-FB7226B3F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6180" y="965732"/>
            <a:ext cx="8957335" cy="4926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7716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1B6790-81A3-DEBA-A43A-6B594463D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2FC7-FA71-11A4-6591-07616D365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5984274" cy="1492132"/>
          </a:xfrm>
        </p:spPr>
        <p:txBody>
          <a:bodyPr>
            <a:normAutofit/>
          </a:bodyPr>
          <a:lstStyle/>
          <a:p>
            <a:r>
              <a:rPr lang="en-US" dirty="0"/>
              <a:t>What’s is VS Code?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7156-7918-629B-F7AE-52797854C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1471276"/>
            <a:ext cx="5984274" cy="408505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free, lightweight source code editor. </a:t>
            </a:r>
          </a:p>
          <a:p>
            <a:r>
              <a:rPr lang="en-US" b="1" dirty="0">
                <a:solidFill>
                  <a:schemeClr val="tx1"/>
                </a:solidFill>
              </a:rPr>
              <a:t>cross platform: windows, mac, </a:t>
            </a:r>
            <a:r>
              <a:rPr lang="en-US" b="1" dirty="0" err="1">
                <a:solidFill>
                  <a:schemeClr val="tx1"/>
                </a:solidFill>
              </a:rPr>
              <a:t>linux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supports many languages: Python, JavaScript, HTML, CSS, JSON, Markdown, etc. thru extensions. </a:t>
            </a:r>
          </a:p>
          <a:p>
            <a:r>
              <a:rPr lang="en-US" b="1" dirty="0">
                <a:solidFill>
                  <a:schemeClr val="tx1"/>
                </a:solidFill>
              </a:rPr>
              <a:t>built in Git support</a:t>
            </a:r>
          </a:p>
          <a:p>
            <a:r>
              <a:rPr lang="en-US" b="1" dirty="0">
                <a:solidFill>
                  <a:schemeClr val="tx1"/>
                </a:solidFill>
              </a:rPr>
              <a:t>built in coding support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7" name="Graphic 6" descr="Web Design">
            <a:extLst>
              <a:ext uri="{FF2B5EF4-FFF2-40B4-BE49-F238E27FC236}">
                <a16:creationId xmlns:a16="http://schemas.microsoft.com/office/drawing/2014/main" id="{7FA1669E-5E85-E2E8-EE35-AC8C803CA0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55992" y="1471276"/>
            <a:ext cx="3902582" cy="3902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56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F1F67-4247-D66B-CFB6-B21B98C6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on windows OR Mac</a:t>
            </a:r>
          </a:p>
        </p:txBody>
      </p:sp>
    </p:spTree>
    <p:extLst>
      <p:ext uri="{BB962C8B-B14F-4D97-AF65-F5344CB8AC3E}">
        <p14:creationId xmlns:p14="http://schemas.microsoft.com/office/powerpoint/2010/main" val="2280266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7023B-5B2E-0498-9F1C-73677D5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</a:t>
            </a:r>
            <a:r>
              <a:rPr lang="en-US" dirty="0" err="1"/>
              <a:t>MAc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848513-5E2F-530B-699A-1A902A96A1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1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open terminal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type git --version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this command will let you know if you have Git installed, and if not, terminal window will prompt you on how to install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88791E-3A65-853F-91E4-D2ED16489A9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2</a:t>
            </a:r>
          </a:p>
          <a:p>
            <a:pPr marL="457200" indent="-457200">
              <a:buAutoNum type="arabicPeriod"/>
            </a:pPr>
            <a:r>
              <a:rPr lang="en-US" dirty="0"/>
              <a:t>installing Homebrew </a:t>
            </a:r>
            <a:r>
              <a:rPr lang="en-US" dirty="0">
                <a:hlinkClick r:id="rId2"/>
              </a:rPr>
              <a:t>brew.sh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/>
              <a:t>Homebrew is a package manager</a:t>
            </a:r>
          </a:p>
          <a:p>
            <a:pPr marL="457200" indent="-457200">
              <a:buAutoNum type="arabicPeriod"/>
            </a:pPr>
            <a:r>
              <a:rPr lang="en-US" dirty="0"/>
              <a:t>once Homebrew is installed, type brew install git</a:t>
            </a:r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23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F305F-649A-A4AC-C66B-262F5987E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736A02-BF62-4417-DE7E-7F342A435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GIT Windows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596194-A4DC-31C1-1C59-FA6B8B80FE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1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open terminal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type git --version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this command will let you know if you have Git installed, and if not, terminal window will prompt you on how to install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41782D-0505-160E-F0BD-410A35D1C2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Option 2</a:t>
            </a:r>
          </a:p>
          <a:p>
            <a:pPr marL="457200" indent="-457200">
              <a:buAutoNum type="arabicPeriod"/>
            </a:pPr>
            <a:r>
              <a:rPr lang="en-US" dirty="0"/>
              <a:t>installing Homebrew </a:t>
            </a:r>
            <a:r>
              <a:rPr lang="en-US" dirty="0">
                <a:hlinkClick r:id="rId2"/>
              </a:rPr>
              <a:t>brew.sh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/>
              <a:t>Homebrew is a package manager</a:t>
            </a:r>
          </a:p>
          <a:p>
            <a:pPr marL="457200" indent="-457200">
              <a:buAutoNum type="arabicPeriod"/>
            </a:pPr>
            <a:r>
              <a:rPr lang="en-US" dirty="0"/>
              <a:t>once Homebrew is installed, type brew install git</a:t>
            </a:r>
          </a:p>
          <a:p>
            <a:pPr marL="457200" indent="-4572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070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51914-4A68-E082-8B92-28C098E99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VS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1B4AD-F3B9-FD8E-A4F1-C69990802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247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553AB-7E23-2562-6E8A-E309B672C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 VS code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F2E6B-0222-EF21-1871-401D71E56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go to: </a:t>
            </a:r>
            <a:r>
              <a:rPr lang="en-US" dirty="0">
                <a:hlinkClick r:id="rId2"/>
              </a:rPr>
              <a:t>https://code.visualstudio.com/</a:t>
            </a:r>
            <a:r>
              <a:rPr lang="en-US" dirty="0"/>
              <a:t> OR google search VS Code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click on download button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folllow</a:t>
            </a:r>
            <a:r>
              <a:rPr lang="en-US" dirty="0"/>
              <a:t> install instructions </a:t>
            </a:r>
          </a:p>
        </p:txBody>
      </p:sp>
    </p:spTree>
    <p:extLst>
      <p:ext uri="{BB962C8B-B14F-4D97-AF65-F5344CB8AC3E}">
        <p14:creationId xmlns:p14="http://schemas.microsoft.com/office/powerpoint/2010/main" val="1884320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2D4C2-0E29-62FB-712A-3FA3DE7F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GIT Tracks Changes (working&gt;staging&gt;commit)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09622-4F9D-90F1-C9CD-976A7BD4F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9990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3D793-1FE1-DA73-A4C6-BE676BFF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Branches &amp; remotes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AA968-2881-C93E-361F-EFDDFAE01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65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8EFEB-7F34-C46C-A2A7-3F2BA0A27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 Code &amp; Git integration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4C12B-DBB2-E17F-EE0C-2C4F911D0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881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1474-E9FC-DFF5-21CD-18E9F4A9B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CB209-9725-3CAB-6ED2-297BDDF0F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creating AND cloning a repository</a:t>
            </a:r>
          </a:p>
        </p:txBody>
      </p:sp>
    </p:spTree>
    <p:extLst>
      <p:ext uri="{BB962C8B-B14F-4D97-AF65-F5344CB8AC3E}">
        <p14:creationId xmlns:p14="http://schemas.microsoft.com/office/powerpoint/2010/main" val="588970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F1F4-0770-E750-265A-9279BF56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repository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6AC6A41-4E6C-C2A2-DCD5-FCE167102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1167" y="2526619"/>
            <a:ext cx="4929666" cy="2464308"/>
          </a:xfr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/>
          <a:lstStyle/>
          <a:p>
            <a:pPr marL="0" indent="0">
              <a:buNone/>
            </a:pPr>
            <a:r>
              <a:rPr lang="en-US" b="1" dirty="0" err="1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git-workshop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git-workshop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(optional to open current repo folder in VSCode)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EAF435-4A9B-7443-708B-9BC9F946074F}"/>
              </a:ext>
            </a:extLst>
          </p:cNvPr>
          <p:cNvSpPr txBox="1"/>
          <p:nvPr/>
        </p:nvSpPr>
        <p:spPr>
          <a:xfrm>
            <a:off x="1427081" y="1603289"/>
            <a:ext cx="39745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check working directory/PATH:</a:t>
            </a:r>
            <a:br>
              <a:rPr lang="en-US" dirty="0"/>
            </a:br>
            <a:r>
              <a:rPr lang="en-US" dirty="0"/>
              <a:t>Windows: </a:t>
            </a:r>
            <a:r>
              <a:rPr lang="en-US" dirty="0" err="1"/>
              <a:t>pwd</a:t>
            </a:r>
            <a:endParaRPr lang="en-US" dirty="0"/>
          </a:p>
          <a:p>
            <a:r>
              <a:rPr lang="en-US" dirty="0"/>
              <a:t>Mac: cd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E489D-D3BD-83B6-611D-4FEE5BDDE279}"/>
              </a:ext>
            </a:extLst>
          </p:cNvPr>
          <p:cNvSpPr txBox="1"/>
          <p:nvPr/>
        </p:nvSpPr>
        <p:spPr>
          <a:xfrm>
            <a:off x="7263723" y="5482833"/>
            <a:ext cx="45336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dot after the command:</a:t>
            </a:r>
          </a:p>
          <a:p>
            <a:r>
              <a:rPr lang="en-US" dirty="0"/>
              <a:t>single dot . : opens current directory/folder</a:t>
            </a:r>
          </a:p>
          <a:p>
            <a:r>
              <a:rPr lang="en-US" dirty="0"/>
              <a:t>double dot .. : refers to parent directory/folder</a:t>
            </a:r>
          </a:p>
        </p:txBody>
      </p:sp>
    </p:spTree>
    <p:extLst>
      <p:ext uri="{BB962C8B-B14F-4D97-AF65-F5344CB8AC3E}">
        <p14:creationId xmlns:p14="http://schemas.microsoft.com/office/powerpoint/2010/main" val="2263769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B2CC-F394-A506-B153-70BAFFD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instruction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991B2-FBE6-529C-4E1C-5BAAE952B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Exercise A</a:t>
            </a:r>
          </a:p>
          <a:p>
            <a:r>
              <a:rPr lang="en-US" dirty="0"/>
              <a:t>Exercise 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694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600F-4F3E-CD7D-4D29-47A597572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Conflicts: what and </a:t>
            </a:r>
            <a:r>
              <a:rPr lang="en-US" dirty="0" err="1"/>
              <a:t>WHy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E4E59-2621-9F36-984F-8C3185AE6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9997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7FC9C-01A5-B5D6-F400-4BD04A19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78883-1A31-E99B-32DC-33B20EAA1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2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D59B-F29E-B200-D7A6-746F5B1E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Office / question +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BA8F1-A05F-1C79-80BF-6AE313035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227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80AB-3507-28E6-6123-C9F20E886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br>
              <a:rPr lang="en-US" dirty="0"/>
            </a:br>
            <a:r>
              <a:rPr lang="en-US" dirty="0"/>
              <a:t>-UTSA Libraries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CAFCA8-6AFA-A4E3-116D-C5CB0C97CA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2"/>
              </a:rPr>
              <a:t>diane.lopez@utsa.edu</a:t>
            </a:r>
            <a:endParaRPr lang="en-US" dirty="0"/>
          </a:p>
          <a:p>
            <a:r>
              <a:rPr lang="en-US" dirty="0">
                <a:hlinkClick r:id="rId3"/>
              </a:rPr>
              <a:t>Cedish@utsa.edu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0839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6297</TotalTime>
  <Words>597</Words>
  <Application>Microsoft Macintosh PowerPoint</Application>
  <PresentationFormat>Widescreen</PresentationFormat>
  <Paragraphs>94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Courier New</vt:lpstr>
      <vt:lpstr>Gill Sans MT</vt:lpstr>
      <vt:lpstr>Impact</vt:lpstr>
      <vt:lpstr>Badge</vt:lpstr>
      <vt:lpstr>Git &amp; VSCode</vt:lpstr>
      <vt:lpstr>Contact Information </vt:lpstr>
      <vt:lpstr>Agenda</vt:lpstr>
      <vt:lpstr>Objective </vt:lpstr>
      <vt:lpstr>Getting Started</vt:lpstr>
      <vt:lpstr>What’s is Git? &amp; core concepts </vt:lpstr>
      <vt:lpstr>PowerPoint Presentation</vt:lpstr>
      <vt:lpstr>What’s is VS Code? </vt:lpstr>
      <vt:lpstr>Installing GIT on windows OR Mac</vt:lpstr>
      <vt:lpstr>Installing GIT MAc</vt:lpstr>
      <vt:lpstr>Installing GIT Windows</vt:lpstr>
      <vt:lpstr>installing VS Code</vt:lpstr>
      <vt:lpstr>download VS code </vt:lpstr>
      <vt:lpstr>How GIT Tracks Changes (working&gt;staging&gt;commit)</vt:lpstr>
      <vt:lpstr>Branches &amp; remotes</vt:lpstr>
      <vt:lpstr>VS Code &amp; Git integration highlights</vt:lpstr>
      <vt:lpstr>Live Demo</vt:lpstr>
      <vt:lpstr>Creating a repository </vt:lpstr>
      <vt:lpstr>Lab instruction </vt:lpstr>
      <vt:lpstr>Merge Conflicts: what and WHy</vt:lpstr>
      <vt:lpstr>Resource </vt:lpstr>
      <vt:lpstr>Office / question + Feedback</vt:lpstr>
      <vt:lpstr>Thank you -UTSA Libraries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Diane Lopez</dc:creator>
  <cp:lastModifiedBy>Diane Lopez</cp:lastModifiedBy>
  <cp:revision>2</cp:revision>
  <dcterms:created xsi:type="dcterms:W3CDTF">2026-01-05T21:33:47Z</dcterms:created>
  <dcterms:modified xsi:type="dcterms:W3CDTF">2026-01-13T23:04:36Z</dcterms:modified>
</cp:coreProperties>
</file>